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ad5657f56e42cf" /><Relationship Type="http://schemas.openxmlformats.org/officeDocument/2006/relationships/extended-properties" Target="/docProps/app.xml" Id="R10312a5365c04147" /><Relationship Type="http://schemas.openxmlformats.org/officeDocument/2006/relationships/officeDocument" Target="/ppt/presentation.xml" Id="R52118080e67542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699b3129624a81"/>
  </p:sldMasterIdLst>
  <p:notesMasterIdLst>
    <p:notesMasterId xmlns:r="http://schemas.openxmlformats.org/officeDocument/2006/relationships" r:id="Rcee705c551f648d6"/>
  </p:notesMasterIdLst>
  <p:sldIdLst>
    <p:sldId xmlns:r="http://schemas.openxmlformats.org/officeDocument/2006/relationships" id="256" r:id="R144b6c02d19940ba"/>
    <p:sldId xmlns:r="http://schemas.openxmlformats.org/officeDocument/2006/relationships" id="257" r:id="R1f2d0c9279634c61"/>
    <p:sldId xmlns:r="http://schemas.openxmlformats.org/officeDocument/2006/relationships" id="258" r:id="R8d97b050ac3c4bdf"/>
    <p:sldId xmlns:r="http://schemas.openxmlformats.org/officeDocument/2006/relationships" id="259" r:id="R84c01588963444e4"/>
    <p:sldId xmlns:r="http://schemas.openxmlformats.org/officeDocument/2006/relationships" id="260" r:id="Rba9bad332441466e"/>
    <p:sldId xmlns:r="http://schemas.openxmlformats.org/officeDocument/2006/relationships" id="261" r:id="R602bd03d70544bc8"/>
    <p:sldId xmlns:r="http://schemas.openxmlformats.org/officeDocument/2006/relationships" id="262" r:id="R30b8c0bf67c64810"/>
    <p:sldId xmlns:r="http://schemas.openxmlformats.org/officeDocument/2006/relationships" id="263" r:id="Rb248e97c98264057"/>
    <p:sldId xmlns:r="http://schemas.openxmlformats.org/officeDocument/2006/relationships" id="264" r:id="Rfbdb374c0d874d1b"/>
    <p:sldId xmlns:r="http://schemas.openxmlformats.org/officeDocument/2006/relationships" id="265" r:id="R065239e657564e23"/>
    <p:sldId xmlns:r="http://schemas.openxmlformats.org/officeDocument/2006/relationships" id="266" r:id="Re8ec234a322d4940"/>
    <p:sldId xmlns:r="http://schemas.openxmlformats.org/officeDocument/2006/relationships" id="267" r:id="R994a78ec042b49ae"/>
    <p:sldId xmlns:r="http://schemas.openxmlformats.org/officeDocument/2006/relationships" id="268" r:id="Rd851a9445e124d63"/>
    <p:sldId xmlns:r="http://schemas.openxmlformats.org/officeDocument/2006/relationships" id="269" r:id="R4827aad5f09d402f"/>
    <p:sldId xmlns:r="http://schemas.openxmlformats.org/officeDocument/2006/relationships" id="270" r:id="R991dd467a8fa45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553419d047487f" /><Relationship Type="http://schemas.openxmlformats.org/officeDocument/2006/relationships/slideMaster" Target="/ppt/slideMasters/slideMaster1.xml" Id="Rdf699b3129624a81" /><Relationship Type="http://schemas.openxmlformats.org/officeDocument/2006/relationships/notesMaster" Target="/ppt/notesMasters/notesMaster1.xml" Id="Rcee705c551f648d6" /><Relationship Type="http://schemas.openxmlformats.org/officeDocument/2006/relationships/presProps" Target="/ppt/presProps.xml" Id="Rcf17a6b7ca8b472c" /><Relationship Type="http://schemas.openxmlformats.org/officeDocument/2006/relationships/tableStyles" Target="/ppt/tableStyles.xml" Id="R9aafb5bd81ac4dab" /><Relationship Type="http://schemas.openxmlformats.org/officeDocument/2006/relationships/slide" Target="/ppt/slides/slide1.xml" Id="R144b6c02d19940ba" /><Relationship Type="http://schemas.openxmlformats.org/officeDocument/2006/relationships/slide" Target="/ppt/slides/slide2.xml" Id="R1f2d0c9279634c61" /><Relationship Type="http://schemas.openxmlformats.org/officeDocument/2006/relationships/slide" Target="/ppt/slides/slide3.xml" Id="R8d97b050ac3c4bdf" /><Relationship Type="http://schemas.openxmlformats.org/officeDocument/2006/relationships/slide" Target="/ppt/slides/slide4.xml" Id="R84c01588963444e4" /><Relationship Type="http://schemas.openxmlformats.org/officeDocument/2006/relationships/slide" Target="/ppt/slides/slide5.xml" Id="Rba9bad332441466e" /><Relationship Type="http://schemas.openxmlformats.org/officeDocument/2006/relationships/slide" Target="/ppt/slides/slide6.xml" Id="R602bd03d70544bc8" /><Relationship Type="http://schemas.openxmlformats.org/officeDocument/2006/relationships/slide" Target="/ppt/slides/slide7.xml" Id="R30b8c0bf67c64810" /><Relationship Type="http://schemas.openxmlformats.org/officeDocument/2006/relationships/slide" Target="/ppt/slides/slide8.xml" Id="Rb248e97c98264057" /><Relationship Type="http://schemas.openxmlformats.org/officeDocument/2006/relationships/slide" Target="/ppt/slides/slide9.xml" Id="Rfbdb374c0d874d1b" /><Relationship Type="http://schemas.openxmlformats.org/officeDocument/2006/relationships/slide" Target="/ppt/slides/slide10.xml" Id="R065239e657564e23" /><Relationship Type="http://schemas.openxmlformats.org/officeDocument/2006/relationships/slide" Target="/ppt/slides/slide11.xml" Id="Re8ec234a322d4940" /><Relationship Type="http://schemas.openxmlformats.org/officeDocument/2006/relationships/slide" Target="/ppt/slides/slide12.xml" Id="R994a78ec042b49ae" /><Relationship Type="http://schemas.openxmlformats.org/officeDocument/2006/relationships/slide" Target="/ppt/slides/slide13.xml" Id="Rd851a9445e124d63" /><Relationship Type="http://schemas.openxmlformats.org/officeDocument/2006/relationships/slide" Target="/ppt/slides/slide14.xml" Id="R4827aad5f09d402f" /><Relationship Type="http://schemas.openxmlformats.org/officeDocument/2006/relationships/slide" Target="/ppt/slides/slide15.xml" Id="R991dd467a8fa45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f742d2389c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9daab3fe244b53" /><Relationship Type="http://schemas.openxmlformats.org/officeDocument/2006/relationships/notesMaster" Target="/ppt/notesMasters/notesMaster1.xml" Id="Re34580a82ca846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c64b2b9a784970" /><Relationship Type="http://schemas.openxmlformats.org/officeDocument/2006/relationships/notesMaster" Target="/ppt/notesMasters/notesMaster1.xml" Id="R0baad4f84adc4d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1be28a2b5343b8" /><Relationship Type="http://schemas.openxmlformats.org/officeDocument/2006/relationships/notesMaster" Target="/ppt/notesMasters/notesMaster1.xml" Id="R4751bbf92e0a4b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90106acb8b46f4" /><Relationship Type="http://schemas.openxmlformats.org/officeDocument/2006/relationships/notesMaster" Target="/ppt/notesMasters/notesMaster1.xml" Id="R0fcfc89dc38448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a571bcc4c0447d" /><Relationship Type="http://schemas.openxmlformats.org/officeDocument/2006/relationships/notesMaster" Target="/ppt/notesMasters/notesMaster1.xml" Id="R3e79758f3d634e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678007aa1e4a6b" /><Relationship Type="http://schemas.openxmlformats.org/officeDocument/2006/relationships/notesMaster" Target="/ppt/notesMasters/notesMaster1.xml" Id="R0a51baa05bf64a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417351a07f4e56" /><Relationship Type="http://schemas.openxmlformats.org/officeDocument/2006/relationships/notesMaster" Target="/ppt/notesMasters/notesMaster1.xml" Id="Rc9daf7aed4184b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6da9e3c58a4f6f" /><Relationship Type="http://schemas.openxmlformats.org/officeDocument/2006/relationships/notesMaster" Target="/ppt/notesMasters/notesMaster1.xml" Id="R00a1fbe8dcf140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c491bb4d7d45e1" /><Relationship Type="http://schemas.openxmlformats.org/officeDocument/2006/relationships/notesMaster" Target="/ppt/notesMasters/notesMaster1.xml" Id="R6432cf94bcf44b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a8dadb6d90452c" /><Relationship Type="http://schemas.openxmlformats.org/officeDocument/2006/relationships/notesMaster" Target="/ppt/notesMasters/notesMaster1.xml" Id="R73552c2d2f1349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a6ad4774d448ad" /><Relationship Type="http://schemas.openxmlformats.org/officeDocument/2006/relationships/notesMaster" Target="/ppt/notesMasters/notesMaster1.xml" Id="Re4fe582c5a6144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fac381a4db43e7" /><Relationship Type="http://schemas.openxmlformats.org/officeDocument/2006/relationships/notesMaster" Target="/ppt/notesMasters/notesMaster1.xml" Id="Rff468f30d7ca4c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2db160c2944c0d" /><Relationship Type="http://schemas.openxmlformats.org/officeDocument/2006/relationships/notesMaster" Target="/ppt/notesMasters/notesMaster1.xml" Id="R6f47b93b8f0f43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90ce2d5e834d08" /><Relationship Type="http://schemas.openxmlformats.org/officeDocument/2006/relationships/notesMaster" Target="/ppt/notesMasters/notesMaster1.xml" Id="R04ac2982537f43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8bbec066c048bc" /><Relationship Type="http://schemas.openxmlformats.org/officeDocument/2006/relationships/notesMaster" Target="/ppt/notesMasters/notesMaster1.xml" Id="R3d37487b15004b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Доклад на 15–20 минут. Рассказать о своём опыте настройки текстового поиска и отделять его от опубликованных кейсов других компаний. Визуальный стиль и пантера: https://bklara.github.io/blog?lang=en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Сравниваем весь состав решения. Бесплатный движок не означает бесплатную эксплуатацию. Подрядчик тоже может экономить время и деньги. Открытые лицензии и коммерческие уровни: https://opensearch.org/About/ ; https://www.elastic.co/pricing/faq ; https://www.meilisearch.com/open-source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прямое описание опыта докладчицы из обсуждения. Численные замеры, конкретный каталог и набор запросов пока не предоставлены. Устно раскрыть настройки, которые действительно использовались. Не обещать одинаковый результат для любого каталога.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 сообщила, что в её кейсе поиск учитывал геолокацию. Неизвестно, была ли это фильтрация, сортировка или повышение оценки по расстоянию. Слайд показывает только принцип, а не восстановленную архитектуру или измеренный результат кейса. Технический пример возможностей function score и distance decay: https://www.elastic.co/docs/reference/query-languages/query-dsl/query-dsl-function-score-query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аргументы в пользу контроля над реализацией, а не утверждение об уникальных возможностях open source. Доступность функций зависит от продукта, версии и уровня лицензии. Для персональных данных и ACL нужны отдельные требования.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https://www.jacquelynmarcella.com/search-api.html . Поиск для Help Center и маркетингового сайта Smartsheet. Ключевой эффект связан с сокращением контракта, широкие функции Coveo мало использовались. Не трактовать как независимый аудит или чистую экономию после всех расходов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https://aws.amazon.com/blogs/big-data/how-octus-achieved-85-infrastructure-cost-reduction-with-zero-downtime-migration-to-amazon-opensearch-service/ . 52% и 33 процентных пункта от исходной базы дают 85% суммарного сокращения. Не складывать как две последовательные относительные скидки. Это расходы на инфраструктуру, не доказанный полный TCO. Публикация поставщика.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Qogita: https://www.meilisearch.com/blog/qogita-simplifies-b2b-trade . HitPay: https://www.meilisearch.com/blog/hitpay-streamlines-search . Быстрый пилот не равен production-внедрению за два дня. Обе истории размещены поставщиком. Qogita не раскрывает численный процент экономии.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OpenSearch Apache 2.0: https://opensearch.org/About/ . Elasticsearch бесплатные и платные уровни: https://www.elastic.co/pricing/faq . Meilisearch Community MIT, sharding и replication в Enterprise: https://www.meilisearch.com/open-source . Слайд не утверждает эквивалентность функций или SLA.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Официальная документация: https://docs.opensearch.org/latest/vector-search/ai-search/agentic-search/index/ . Агент преобразует естественный язык в DSL. Эмбеддинги нужны для neural search, а не для любой агентной оркестрации. У агента остаётся стоимость LLM-вызовов, задержка и необходимость контроля качества.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утверждать, что персонализация обязательно требует векторов. Она может использовать фильтры, boosting и правила, а затем модели. Техническая база ранжирования по сигналам: https://www.elastic.co/docs/reference/query-languages/query-dsl/query-dsl-function-score-query . Конкретный выбор требует проверки на своих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Методика предложена в исследовании, не универсальный норматив. Реальные примеры автора пока не получены. Не придумывать численный результат. Для коммерческого каталога отдельно оценивать покупки и маржу корректным экспериментом, для production проверить восстановление и права доступа.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Иллюстрация, не рыночная смета. €300 = 4 ч × €75. €3 500 = €500 консультация + 40 ч внедрения × €75. TCO нового варианта: €3 500 + 12 × (€200 + €300) = €9 500. Экономия €18 000 − €9 500 = €8 500. Месячная экономия €1 000, простая окупаемость 3,5 месяца после переключения. При 20 ч × €75 + €200 = €1 700 в месяц. Не учтены налоги, двойная оплата перехода и эффект качества на прибыль.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Общего доказательства «нет экспертизы + одна консультация = дешёвый production» нет. Более узкий тезис подтверждают опубликованные кейсы: обычная команда разработки может быстро проверить доступный готовый движок. Не обещать отсутствие эксплуатационных работ.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Предложить аудитории вспомнить свой поисковый счёт и конкретные незакрытые запросы. Контакт: https://bklara.github.io/blog?lang=en . Источники и дополнительные кейсы в исследовании search-cost-research-mfti-2026-09-30.md.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d3e8615c145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4ceb3a239242ce" /><Relationship Type="http://schemas.openxmlformats.org/officeDocument/2006/relationships/slideLayout" Target="/ppt/slideLayouts/slideLayout1.xml" Id="Rd6e3d82039ff40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e3d82039ff40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efc8cfc6e4c22" /><Relationship Type="http://schemas.openxmlformats.org/officeDocument/2006/relationships/image" Target="/ppt/media/image.png" Id="Rf5791b15da5b4c64" /><Relationship Type="http://schemas.openxmlformats.org/officeDocument/2006/relationships/notesSlide" Target="/ppt/notesSlides/notesSlide1.xml" Id="R0e1f5bb61e0647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1974aed4a4b18" /><Relationship Type="http://schemas.openxmlformats.org/officeDocument/2006/relationships/notesSlide" Target="/ppt/notesSlides/notesSlide2.xml" Id="R5a4d342c8e9f4b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9fdaaf83f4082" /><Relationship Type="http://schemas.openxmlformats.org/officeDocument/2006/relationships/notesSlide" Target="/ppt/notesSlides/notesSlide3.xml" Id="R7d2ebf13398740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c322a954f4731" /><Relationship Type="http://schemas.openxmlformats.org/officeDocument/2006/relationships/notesSlide" Target="/ppt/notesSlides/notesSlide4.xml" Id="Re46caa789e4342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076e85d7b4f97" /><Relationship Type="http://schemas.openxmlformats.org/officeDocument/2006/relationships/notesSlide" Target="/ppt/notesSlides/notesSlide5.xml" Id="Re32e7864de3644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330fc67294263" /><Relationship Type="http://schemas.openxmlformats.org/officeDocument/2006/relationships/notesSlide" Target="/ppt/notesSlides/notesSlide6.xml" Id="R14bac224dee94f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7a88590c8477d" /><Relationship Type="http://schemas.openxmlformats.org/officeDocument/2006/relationships/notesSlide" Target="/ppt/notesSlides/notesSlide7.xml" Id="Rbaeef0ae0a4e4f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a7b1a81a24a9d" /><Relationship Type="http://schemas.openxmlformats.org/officeDocument/2006/relationships/notesSlide" Target="/ppt/notesSlides/notesSlide8.xml" Id="R5b848ed9baf841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a6e8100e844fc" /><Relationship Type="http://schemas.openxmlformats.org/officeDocument/2006/relationships/notesSlide" Target="/ppt/notesSlides/notesSlide9.xml" Id="R25d3d4ee2d4842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18cf1e6d34fd5" /><Relationship Type="http://schemas.openxmlformats.org/officeDocument/2006/relationships/notesSlide" Target="/ppt/notesSlides/notesSlide10.xml" Id="R1af029e1b6dc4c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f096d7a9f4b84" /><Relationship Type="http://schemas.openxmlformats.org/officeDocument/2006/relationships/notesSlide" Target="/ppt/notesSlides/notesSlide11.xml" Id="R477303a83c6641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b6cf1ca8646de" /><Relationship Type="http://schemas.openxmlformats.org/officeDocument/2006/relationships/notesSlide" Target="/ppt/notesSlides/notesSlide12.xml" Id="R49cbe7389cb042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aa3bab39e4b3f" /><Relationship Type="http://schemas.openxmlformats.org/officeDocument/2006/relationships/notesSlide" Target="/ppt/notesSlides/notesSlide13.xml" Id="R376aa5604b8f42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29328b11a4db7" /><Relationship Type="http://schemas.openxmlformats.org/officeDocument/2006/relationships/notesSlide" Target="/ppt/notesSlides/notesSlide14.xml" Id="R6bf57194b3ae41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1d17042f14df6" /><Relationship Type="http://schemas.openxmlformats.org/officeDocument/2006/relationships/image" Target="/ppt/media/image2.png" Id="Rf1124ccac32445af" /><Relationship Type="http://schemas.openxmlformats.org/officeDocument/2006/relationships/notesSlide" Target="/ppt/notesSlides/notesSlide15.xml" Id="R8c3af365ea174b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92186-4048-4F33-89D8-1D868FF7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790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250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rPr>
              <a:t>Поисковые движки:</a:t>
            </a:r>
          </a:p>
          <a:p xmlns:a="http://schemas.openxmlformats.org/drawingml/2006/main">
            <a:pPr>
              <a:defRPr sz="5250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250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rPr>
              <a:t>как сэкономить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52983-E843-400C-80D0-BB9007D9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Хороший поиск без лишней сложности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91b15da5b4c64"/>
          <a:stretch xmlns:a="http://schemas.openxmlformats.org/drawingml/2006/main"/>
        </p:blipFill>
        <p:spPr>
          <a:xfrm xmlns:a="http://schemas.openxmlformats.org/drawingml/2006/main">
            <a:off x="8858250" y="1285875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672E1-F666-498B-A8B7-81F81DF3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Клара Бродская · встреча выпускников МФТИ на Кипре</a:t>
            </a:r>
          </a:p>
        </p:txBody>
      </p:sp>
    </p:spTree>
    <p:extLst>
      <p:ext uri="{BB962C8B-B14F-4D97-AF65-F5344CB8AC3E}">
        <p14:creationId xmlns:p14="http://schemas.microsoft.com/office/powerpoint/2010/main" val="299895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F5E35-2DDB-4D6D-9432-381BCD69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Из чего складывается цена поиска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50437-0C3D-4677-B502-25557B73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Сервис и лицензии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A0B80-2CC0-4508-AF36-333FCFAE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Запросы, записи, платные возможности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25CE7-EB25-4283-B248-DB90E1FE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Инфраструктура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773A6-0E94-4852-9BA8-532531ED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76600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Вычисления, хранение, резервирование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7F505-A588-4C38-BB9C-DE773448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Работа команды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F40C8-1660-41C2-A9D4-96A9A909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0057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Интеграция, настройка, эксплуатация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526A0-88C2-41E4-9468-6FB75F8C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Свой поиск может работать в управляемом облаке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6B2BA-BBEE-4378-B953-D83238A9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8515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64B6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83B6F-7B33-4988-8485-6B208886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CFBF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FCFBF8"/>
                </a:solidFill>
                <a:latin typeface="Cormorant Garamond"/>
                <a:ea typeface="Cormorant Garamond"/>
                <a:cs typeface="Cormorant Garamond"/>
              </a:rPr>
              <a:t>Мой опыт поиска по каталогу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AF1DA-F7FB-469F-A5E7-1F02FF38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38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CFBF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750" b="1">
                <a:solidFill>
                  <a:srgbClr val="FCFBF8"/>
                </a:solidFill>
                <a:latin typeface="Cormorant Garamond"/>
                <a:ea typeface="Cormorant Garamond"/>
                <a:cs typeface="Cormorant Garamond"/>
              </a:rPr>
              <a:t>Хорошо настроенный текстовый поиск уже даёт очень высокое качество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82B48-16F5-4491-9A14-6DAF21B9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CFB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CFBF8"/>
                </a:solidFill>
                <a:latin typeface="Helvetica Neue"/>
                <a:ea typeface="Helvetica Neue"/>
                <a:cs typeface="Helvetica Neue"/>
              </a:rPr>
              <a:t>Для моих задач пока хватает настройки поиска без отдельного выделения интента и обучения моделей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8E658-EE52-4CED-93C3-48D7B49E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7D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D7DFEB"/>
                </a:solidFill>
                <a:latin typeface="Helvetica Neue"/>
                <a:ea typeface="Helvetica Neue"/>
                <a:cs typeface="Helvetica Neue"/>
              </a:rPr>
              <a:t>Наблюдение из практики автора. Универсального обещания качества нет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0048B-470A-40D7-9275-FC829956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D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7DF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068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5E4C9-2BC1-459B-9DC3-CB272B07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Местоположение меняет полезность выдачи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53B65-1EDA-4537-AFFE-077AB214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150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rPr>
              <a:t>Текст запроса и местоположение могут вместе определять выдачу.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9004D-C955-4AE1-9405-09EF442E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Текст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93B4C-A8F7-4E77-9AF3-13885E6B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Соответствует ли результат запросу?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D29B8-79D7-45A2-95F6-C00885F4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528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География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A35A7-8BCF-45D0-91BD-1533865B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576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Подходит ли он пользователю здесь?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AC5BA-A56F-4CE1-992E-622D7A27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Иллюстрация принципа. Личный кейс учитывал геолокацию, детали ещё не раскрыты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12017-26C4-44BA-A032-FC154481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6147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D205C-E046-4D96-9396-EF077380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Что даёт контроль над поиском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5FC57-0C26-4080-8AB7-5E19CF8C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Свои правила выдачи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30B19-503A-44D2-B3CD-8EB54D85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География, наличие, свойства каталога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6B1B5-BC3F-4500-9FCA-1D31A49E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Проверяемые изменения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071F8-2414-4531-B1F8-BFCF482E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76600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Почему результат поднялся и стало ли лучше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2FA0D-15E2-4DC0-B563-4981AD9B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Выбор размещения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CF34D-B7E3-45C2-8A5E-3381768A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0057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Свой сервер или управляемый сервис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28472-908B-4E5B-BE68-97D9398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Эти возможности есть и у SaaS. Сравнивать нужно нужное вам поведение и его цену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3DA82-5DCD-49F8-A724-A6D31BD1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7887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60AD8-509D-40F7-BBBC-1ED9306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Smartsheet: меньше ненужных функций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7F00F-9C0A-4588-9D55-A8AAD713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5810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25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8625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rPr>
              <a:t>$150 тыс.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A3AD9-E10D-4346-96A2-EF6996AD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в год экономии на контракте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62A38-FB8A-4EDA-BE9D-F1FEA02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Coveo заменили на OpenSearch для нужного объёма поисковых задач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DD593-C39D-48FA-8350-B8CD44FE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Рассказ инженера проекта. Полный TCO не раскрыт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92806-965D-4EA6-AB83-2B036265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2076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6D382-ACB4-4171-8853-4BE0E218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Octus: миграция и настройка ресурсов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41054-AFE1-41F3-97F2-C8067B0D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5810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25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8625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rPr>
              <a:t>−85%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8B602-A265-4C96-B700-05DC96A0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инфраструктурных расходов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DB2FE-92B9-4AEA-881B-1DF0CD0A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52% после миграции</a:t>
            </a:r>
          </a:p>
          <a:p xmlns:a="http://schemas.openxmlformats.org/drawingml/2006/main">
            <a:pPr>
              <a:defRPr sz="24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ещё 33 п.п. от исходной базы после оптимизации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EAFA9-0789-4D45-9745-966E465C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Elastic Cloud заменили на Amazon OpenSearch Service. Кейс AWS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0915D-A5B4-4488-9B9B-E5244669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0434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4084D-0AD8-4BA2-AFE3-732E17DC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Meilisearch и небольшая команда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0F003-2725-4015-8D1C-BFF0DA7D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Qogita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D0C56-738A-4226-BB9C-D2646DE9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Существенная экономия после Algolia. Сумму компания не раскрывает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8BC74-00E1-4BA8-BA72-85C63DB2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HitPay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81FD9-F073-47D7-A215-E8EBA9B6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997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Один разработчик собрал пилот за пару дней. Production работает в Cloud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9152B-CA1A-4106-816C-38C95244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Опубликованные кейсы Meilisearch. Своих тестов этого движка у меня пока нет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2976D-95DC-4CC1-8C6B-CD157C9B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874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A0A91-261D-49EE-A313-973876E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Движок выбирают под задачу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23900" y="1952625"/>
          <a:ext xmlns:a="http://schemas.openxmlformats.org/drawingml/2006/main" cx="10744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648575"/>
              </a:tblGrid>
              <a:tr h="809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Кандидат</a:t>
                      </a:r>
                    </a:p>
                  </a:txBody>
                  <a:tcPr marL="91440" marR="91440" marT="45720" marB="45720">
                    <a:solidFill>
                      <a:srgbClr val="364B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проверить</a:t>
                      </a:r>
                    </a:p>
                  </a:txBody>
                  <a:tcPr marL="91440" marR="91440" marT="45720" marB="45720">
                    <a:solidFill>
                      <a:srgbClr val="364B6D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OpenSearch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Поиск, агрегации и стоимость эксплуатации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Elasticsearch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Нужные функции и уровень лицензии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Meilisearch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Качество каталога, масштаб и отказоустойчивость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7F26F-4C82-446A-B8C4-488C9397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Сравнение на своих данных важнее общего рейтинга движков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AC345-CCFE-4F1B-AAEB-28BF7C49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69378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64B6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9D184-2674-453C-89EE-03C88F11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CFBF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FCFBF8"/>
                </a:solidFill>
                <a:latin typeface="Cormorant Garamond"/>
                <a:ea typeface="Cormorant Garamond"/>
                <a:cs typeface="Cormorant Garamond"/>
              </a:rPr>
              <a:t>Агент может использовать текстовый поиск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1F7A5-CF96-4097-9E4F-FB0E1401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38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CFBF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750" b="1">
                <a:solidFill>
                  <a:srgbClr val="FCFBF8"/>
                </a:solidFill>
                <a:latin typeface="Cormorant Garamond"/>
                <a:ea typeface="Cormorant Garamond"/>
                <a:cs typeface="Cormorant Garamond"/>
              </a:rPr>
              <a:t>Агент выбирает запросы и шаги.</a:t>
            </a:r>
          </a:p>
          <a:p xmlns:a="http://schemas.openxmlformats.org/drawingml/2006/main">
            <a:pPr>
              <a:defRPr sz="3750" b="1">
                <a:solidFill>
                  <a:srgbClr val="FCFBF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750" b="1">
                <a:solidFill>
                  <a:srgbClr val="FCFBF8"/>
                </a:solidFill>
                <a:latin typeface="Cormorant Garamond"/>
                <a:ea typeface="Cormorant Garamond"/>
                <a:cs typeface="Cormorant Garamond"/>
              </a:rPr>
              <a:t>Движок возвращает результаты.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C8E2E-6B8C-4F38-8A0A-52C7BFEF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CFB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CFBF8"/>
                </a:solidFill>
                <a:latin typeface="Helvetica Neue"/>
                <a:ea typeface="Helvetica Neue"/>
                <a:cs typeface="Helvetica Neue"/>
              </a:rPr>
              <a:t>Векторный поиск добавляется, когда нужен соответствующий способ поиска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46E89-7BBB-4D6B-B600-04BF2A20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7D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D7DFEB"/>
                </a:solidFill>
                <a:latin typeface="Helvetica Neue"/>
                <a:ea typeface="Helvetica Neue"/>
                <a:cs typeface="Helvetica Neue"/>
              </a:rPr>
              <a:t>Агентность сама по себе не требует эмбеддингов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025AB-7E1B-4D04-9462-F124A944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D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7DFE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82788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30050-A1E7-4C29-B02C-8B7D1DC0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Персонализация начинается с сигналов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D97D6-658E-42C9-AC5F-999E7B0A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Правила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71B0C-F6CE-42DC-B583-3D4EDA1E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Регион, доступность, известные предпочтения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41AE3-94D1-48B0-BC7A-3B8A37F9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Модели и векторы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26A81-5F5E-4CB7-B6EE-AA6426F7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997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Более сложные связи между пользователем, интересами и товарами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3E47F-87DE-41DA-B3AD-409FB52E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Нужный инструмент определяется ошибками текущей выдачи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97EDB-F264-43AA-8FF9-C874C855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4791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EB527-466E-4837-BCF7-F5EEDD3A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Высокое качество нужно показать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EB093-6BA4-4860-8BFF-398D2775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Реальные запросы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E9D24-0121-47D0-85AF-CDCBDCF2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Артикулы, опечатки, характеристики, география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A3BF1-1EB9-4D9D-BECA-9005A517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Релевантность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6ECE4-A2C0-4ECB-82D7-07FF6B73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76600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Нужный результат в первой выдаче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4492B-6C28-42BC-9D08-8BFDFC12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Работа под нагрузкой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F5CA7-3070-41BF-B399-2455B3DD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0057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Задержка, обновления данных, пиковый трафик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73B4E-3C16-492C-8D8C-5DC8D22A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Для начала можно разметить 100–300 запросов. Это предложение для пилота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F0A68-92EF-48A4-8A97-CE1AC8F8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363140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CF7A5-55E2-47B5-A1EE-962A232D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Стоимость первого года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1809750"/>
          <a:ext xmlns:a="http://schemas.openxmlformats.org/drawingml/2006/main" cx="107442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238500"/>
                <a:gridCol w="41719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Статья</a:t>
                      </a:r>
                    </a:p>
                  </a:txBody>
                  <a:tcPr marL="91440" marR="91440" marT="45720" marB="45720">
                    <a:solidFill>
                      <a:srgbClr val="364B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Текущий сервис</a:t>
                      </a:r>
                    </a:p>
                  </a:txBody>
                  <a:tcPr marL="91440" marR="91440" marT="45720" marB="45720">
                    <a:solidFill>
                      <a:srgbClr val="364B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Новый вариант</a:t>
                      </a:r>
                    </a:p>
                  </a:txBody>
                  <a:tcPr marL="91440" marR="91440" marT="45720" marB="45720">
                    <a:solidFill>
                      <a:srgbClr val="364B6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 месяц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€1 500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€200 + €300 поддержки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Разово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€0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€3 500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 первый год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€18 000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C22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€9 500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E4359-0F79-4447-8458-717CE04F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€8 500 экономии. Окупаемость после переключения 3,5 месяца.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9B061-5063-4C1A-BB78-97F4F6B2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Учебный расчёт. При 20 ч поддержки в месяц новый вариант уже дороже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3DD6E-25D3-41D9-A6B3-AD70C7FE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89604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525AC-8A4F-460F-8AFA-CF7DF0AC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675" b="1">
                <a:solidFill>
                  <a:srgbClr val="1C2230"/>
                </a:solidFill>
                <a:latin typeface="Cormorant Garamond"/>
                <a:ea typeface="Cormorant Garamond"/>
                <a:cs typeface="Cormorant Garamond"/>
              </a:rPr>
              <a:t>Что может дать одна консультация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6FE9B-EE25-4A0C-ABC7-0D218C7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Разбор текущего счёта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597BA-C2E5-48A0-9669-8B290F09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За что платим и что действительно используем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B02C5-6828-4B58-8F3F-5A3CEED8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Варианты решения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9715D-51F8-4E6E-A797-BAC711A7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76600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Кандидаты, ограничения и предварительный TCO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927C9-EA33-40F9-97C3-48995F8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64B6D"/>
                </a:solidFill>
                <a:latin typeface="Helvetica Neue"/>
                <a:ea typeface="Helvetica Neue"/>
                <a:cs typeface="Helvetica Neue"/>
              </a:rPr>
              <a:t>План пилота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42351-9381-48C3-AFC6-CC23CB2B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00575"/>
            <a:ext cx="638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Как проверить качество и принять решение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B1093-8C08-4383-A3D0-F6C6D1E7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Консультация помогает выбрать следующий шаг. Внедрение и поддержка считаются отдельно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72E28-30F9-4833-A184-47A106AE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1531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519505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BC0DE-ED46-49AE-8A43-92664DB2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790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250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rPr>
              <a:t>Сколько сложности</a:t>
            </a:r>
          </a:p>
          <a:p xmlns:a="http://schemas.openxmlformats.org/drawingml/2006/main">
            <a:pPr>
              <a:defRPr sz="5250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250" b="1">
                <a:solidFill>
                  <a:srgbClr val="364B6D"/>
                </a:solidFill>
                <a:latin typeface="Cormorant Garamond"/>
                <a:ea typeface="Cormorant Garamond"/>
                <a:cs typeface="Cormorant Garamond"/>
              </a:rPr>
              <a:t>нужно вашему поиску?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82F10-0D62-48D1-8712-758E79B4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C2230"/>
                </a:solidFill>
                <a:latin typeface="Helvetica Neue"/>
                <a:ea typeface="Helvetica Neue"/>
                <a:cs typeface="Helvetica Neue"/>
              </a:rPr>
              <a:t>Ответ начинается с ваших запросов, качества выдачи и полного счёта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24ccac32445af"/>
          <a:stretch xmlns:a="http://schemas.openxmlformats.org/drawingml/2006/main"/>
        </p:blipFill>
        <p:spPr>
          <a:xfrm xmlns:a="http://schemas.openxmlformats.org/drawingml/2006/main">
            <a:off x="8858250" y="1285875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61653-DD17-46A2-BB38-BB9FE681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Клара Бродская</a:t>
            </a:r>
          </a:p>
          <a:p xmlns:a="http://schemas.openxmlformats.org/drawingml/2006/main">
            <a:pPr>
              <a:defRPr sz="17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C7480"/>
                </a:solidFill>
                <a:latin typeface="Helvetica Neue"/>
                <a:ea typeface="Helvetica Neue"/>
                <a:cs typeface="Helvetica Neue"/>
              </a:rPr>
              <a:t>bklara.github.io/blog?lang=en</a:t>
            </a:r>
          </a:p>
        </p:txBody>
      </p:sp>
    </p:spTree>
    <p:extLst>
      <p:ext uri="{BB962C8B-B14F-4D97-AF65-F5344CB8AC3E}">
        <p14:creationId xmlns:p14="http://schemas.microsoft.com/office/powerpoint/2010/main" val="362962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2026-09-30T08:16:17.2540000Z</dcterms:created>
  <dcterms:modified xsi:type="dcterms:W3CDTF">2026-09-30T08:16:17.2540000Z</dcterms:modified>
</coreProperties>
</file>